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A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TalentIQ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B0BED0"/>
                </a:solidFill>
                <a:latin typeface="Calibri"/>
              </a:rPr>
              <a:t>Recrutamento inteligente para empresas em Angola e Moçambique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XPTS Offshore  ·  Celma Vicente  ·  Julho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365760"/>
            <a:ext cx="2286000" cy="457200"/>
          </a:xfrm>
          <a:prstGeom prst="rect">
            <a:avLst/>
          </a:prstGeom>
          <a:solidFill>
            <a:srgbClr val="1A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PARCEIRO FUNDADOR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6EFF"/>
                </a:solidFill>
                <a:latin typeface="Calibri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O recrutamento manual custa tempo e dinheiro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383280" cy="32004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A6EFF"/>
                </a:solidFill>
                <a:latin typeface="Calibri"/>
              </a:rPr>
              <a:t>60–70%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0BED0"/>
                </a:solidFill>
                <a:latin typeface="Calibri"/>
              </a:rPr>
              <a:t>do tempo de RH
gasto em triagem de CVs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828800"/>
            <a:ext cx="3383280" cy="32004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01168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A6EFF"/>
                </a:solidFill>
                <a:latin typeface="Calibri"/>
              </a:rPr>
              <a:t>3–4 semanas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92608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0BED0"/>
                </a:solidFill>
                <a:latin typeface="Calibri"/>
              </a:rPr>
              <a:t>tempo médio para
preencher uma vaga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828800"/>
            <a:ext cx="3383280" cy="32004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201168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A6EFF"/>
                </a:solidFill>
                <a:latin typeface="Calibri"/>
              </a:rPr>
              <a:t>$4.700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292608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0BED0"/>
                </a:solidFill>
                <a:latin typeface="Calibri"/>
              </a:rPr>
              <a:t>custo médio de
uma contratação errada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B0BED0"/>
                </a:solidFill>
                <a:latin typeface="Calibri"/>
              </a:rPr>
              <a:t>Para empresas como a XPTS, que recrutam perfis técnicos + administrativos, o risco de contratar errado é ainda mais elevado.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6EFF"/>
                </a:solidFill>
                <a:latin typeface="Calibri"/>
              </a:rPr>
              <a:t>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TalentIQ — o primeiro ATS com IA em português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606040" cy="36576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920240"/>
            <a:ext cx="502920" cy="502920"/>
          </a:xfrm>
          <a:prstGeom prst="rect">
            <a:avLst/>
          </a:prstGeom>
          <a:solidFill>
            <a:srgbClr val="1A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Upload de CV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54680"/>
            <a:ext cx="2286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BED0"/>
                </a:solidFill>
                <a:latin typeface="Calibri"/>
              </a:rPr>
              <a:t>PDF ou Word.
Extracção automática
de dados.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828800"/>
            <a:ext cx="2606040" cy="36576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474720" y="1920240"/>
            <a:ext cx="502920" cy="502920"/>
          </a:xfrm>
          <a:prstGeom prst="rect">
            <a:avLst/>
          </a:prstGeom>
          <a:solidFill>
            <a:srgbClr val="1A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92024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060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Análise por 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154680"/>
            <a:ext cx="2286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BED0"/>
                </a:solidFill>
                <a:latin typeface="Calibri"/>
              </a:rPr>
              <a:t>Score de compatibilidade,
categorização por
competências.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828800"/>
            <a:ext cx="2606040" cy="36576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355080" y="1920240"/>
            <a:ext cx="502920" cy="502920"/>
          </a:xfrm>
          <a:prstGeom prst="rect">
            <a:avLst/>
          </a:prstGeom>
          <a:solidFill>
            <a:srgbClr val="1A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92024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6060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Pipeline visual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154680"/>
            <a:ext cx="2286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BED0"/>
                </a:solidFill>
                <a:latin typeface="Calibri"/>
              </a:rPr>
              <a:t>Candidatos organizados
por etapa do processo
de selecção.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1828800"/>
            <a:ext cx="2606040" cy="36576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25" name="Rectangle 24"/>
          <p:cNvSpPr/>
          <p:nvPr/>
        </p:nvSpPr>
        <p:spPr>
          <a:xfrm>
            <a:off x="9235440" y="1920240"/>
            <a:ext cx="502920" cy="502920"/>
          </a:xfrm>
          <a:prstGeom prst="rect">
            <a:avLst/>
          </a:prstGeom>
          <a:solidFill>
            <a:srgbClr val="1A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192024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6060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Decisão rápida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154680"/>
            <a:ext cx="2286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BED0"/>
                </a:solidFill>
                <a:latin typeface="Calibri"/>
              </a:rPr>
              <a:t>Compare candidatos
num clique.
Registe feedback.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69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B981"/>
                </a:solidFill>
                <a:latin typeface="Calibri"/>
              </a:rPr>
              <a:t>Desenvolvido especificamente para o mercado lusófono de Angola e Moçambique.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6EFF"/>
                </a:solidFill>
                <a:latin typeface="Calibri"/>
              </a:rPr>
              <a:t>DIFERENCIAÇÃO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TalentIQ e CrewInspector: complementares, não concorrentes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303520" cy="384048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5303520" cy="3840480"/>
          </a:xfrm>
          <a:prstGeom prst="rect">
            <a:avLst/>
          </a:prstGeom>
          <a:solidFill>
            <a:srgbClr val="083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B0BED0"/>
                </a:solidFill>
                <a:latin typeface="Calibri"/>
              </a:rPr>
              <a:t>CrewInspector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B981"/>
                </a:solidFill>
                <a:latin typeface="Calibri"/>
              </a:rPr>
              <a:t>TalentIQ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BED0"/>
                </a:solidFill>
                <a:latin typeface="Calibri"/>
              </a:rPr>
              <a:t>◦  Gere tripulações já embarcadas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BED0"/>
                </a:solidFill>
                <a:latin typeface="Calibri"/>
              </a:rPr>
              <a:t>◦  Foco no sector marítimo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BED0"/>
                </a:solidFill>
                <a:latin typeface="Calibri"/>
              </a:rPr>
              <a:t>◦  Gestão de contratos e certificados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BED0"/>
                </a:solidFill>
                <a:latin typeface="Calibri"/>
              </a:rPr>
              <a:t>◦  Planeia rotações de equipas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BED0"/>
                </a:solidFill>
                <a:latin typeface="Calibri"/>
              </a:rPr>
              <a:t>◦  Não tem módulo de recrutamento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146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✓  Recruta candidatos novos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175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✓  Todos os sectores e perfis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5204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✓  Triagem e ranking automático de CVs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0233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✓  Pipeline visual de selecção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5262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✓  Substitui o processo manual de RH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60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1A6EFF"/>
                </a:solidFill>
                <a:latin typeface="Calibri"/>
              </a:rPr>
              <a:t>"O CrewInspector gere quem já está a bordo. O TalentIQ encontra quem ainda não conhece."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6EFF"/>
                </a:solidFill>
                <a:latin typeface="Calibri"/>
              </a:rPr>
              <a:t>PROPOSTA DE PILOTO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1 mês gratuito — sem risco, sem compromisso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2606040" cy="320040"/>
          </a:xfrm>
          <a:prstGeom prst="rect">
            <a:avLst/>
          </a:prstGeom>
          <a:solidFill>
            <a:srgbClr val="1A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2606040" cy="237744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1B2A"/>
                </a:solidFill>
                <a:latin typeface="Calibri"/>
              </a:rPr>
              <a:t>Semana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2331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Activar a conta
Gratuitamente, sem cartão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874519"/>
            <a:ext cx="260604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2194560"/>
            <a:ext cx="2606040" cy="237744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874519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1B2A"/>
                </a:solidFill>
                <a:latin typeface="Calibri"/>
              </a:rPr>
              <a:t>Semana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86000"/>
            <a:ext cx="2331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Teste de fiabilidade
10 CVs reais de uma vaga recente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260604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194560"/>
            <a:ext cx="2606040" cy="237744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874519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1B2A"/>
                </a:solidFill>
                <a:latin typeface="Calibri"/>
              </a:rPr>
              <a:t>Semana 3–4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286000"/>
            <a:ext cx="2331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Comparação
TalentIQ vs avaliação manual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874519"/>
            <a:ext cx="2606040" cy="3200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2194560"/>
            <a:ext cx="2606040" cy="237744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874519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1B2A"/>
                </a:solidFill>
                <a:latin typeface="Calibri"/>
              </a:rPr>
              <a:t>Fim do mês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286000"/>
            <a:ext cx="2331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Reunião de resultados
Decisão informada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54880"/>
            <a:ext cx="11247120" cy="822960"/>
          </a:xfrm>
          <a:prstGeom prst="rect">
            <a:avLst/>
          </a:prstGeom>
          <a:solidFill>
            <a:srgbClr val="05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FFFFF"/>
                </a:solidFill>
                <a:latin typeface="Calibri"/>
              </a:rPr>
              <a:t>"Não lhe peço que mude nada. Apenas que faça o que já faz — em paralelo."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6EFF"/>
                </a:solidFill>
                <a:latin typeface="Calibri"/>
              </a:rPr>
              <a:t>PREÇOS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Simples. Transparente. Sem surpresas.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474720" cy="41148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0BED0"/>
                </a:solidFill>
                <a:latin typeface="Calibri"/>
              </a:rP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Grátis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0BED0"/>
                </a:solidFill>
                <a:latin typeface="Calibri"/>
              </a:rPr>
              <a:t>Para sempre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✓  2 vagas activas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✓  Upload de CVs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✓  Perfil básico do candidato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05060"/>
                </a:solidFill>
                <a:latin typeface="Calibri"/>
              </a:rPr>
              <a:t>—  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920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05060"/>
                </a:solidFill>
                <a:latin typeface="Calibri"/>
              </a:rPr>
              <a:t>—  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828800"/>
            <a:ext cx="3474720" cy="4114800"/>
          </a:xfrm>
          <a:prstGeom prst="rect">
            <a:avLst/>
          </a:prstGeom>
          <a:solidFill>
            <a:srgbClr val="0A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828800"/>
            <a:ext cx="3474720" cy="73152"/>
          </a:xfrm>
          <a:prstGeom prst="rect">
            <a:avLst/>
          </a:prstGeom>
          <a:solidFill>
            <a:srgbClr val="1A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9202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6EFF"/>
                </a:solidFill>
                <a:latin typeface="Calibri"/>
              </a:rPr>
              <a:t>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3317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$99/mês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88036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0BED0"/>
                </a:solidFill>
                <a:latin typeface="Calibri"/>
              </a:rPr>
              <a:t>Recomendado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2461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✓  10 vagas activas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6576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✓  Triagem IA avançada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0690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✓  Score de compatibilidade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4805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✓  Relatórios de processo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8920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✓  Suporte prioritário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828800"/>
            <a:ext cx="3474720" cy="41148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9202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Calibri"/>
              </a:rPr>
              <a:t>Pro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3317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$199/mês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88036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0BED0"/>
                </a:solidFill>
                <a:latin typeface="Calibri"/>
              </a:rPr>
              <a:t>Equipa de RH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2461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✓  Vagas ilimitadas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6576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✓  Triagem IA avançada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0690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✓  Score de compatibilidade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4805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✓  Relatórios avançados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8920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✓  API + integrações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10B981"/>
                </a:solidFill>
                <a:latin typeface="Calibri"/>
              </a:rPr>
              <a:t>Proposta XPTS: 1 mês Growth gratuito → $99/mês depois. Cancela quando quiser. Sem contrato.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6EFF"/>
                </a:solidFill>
                <a:latin typeface="Calibri"/>
              </a:rP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Vamos começar esta semana?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1280160" cy="640080"/>
          </a:xfrm>
          <a:prstGeom prst="rect">
            <a:avLst/>
          </a:prstGeom>
          <a:solidFill>
            <a:srgbClr val="1A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280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Hoje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920240"/>
            <a:ext cx="9784080" cy="64008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92024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Confirmar início do trial gratuito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88920"/>
            <a:ext cx="1280160" cy="640080"/>
          </a:xfrm>
          <a:prstGeom prst="rect">
            <a:avLst/>
          </a:prstGeom>
          <a:solidFill>
            <a:srgbClr val="1A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1280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+7 dias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2788920"/>
            <a:ext cx="9784080" cy="64008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78892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Seleccionar os 10 CVs para o teste de fiabilidade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1280160" cy="640080"/>
          </a:xfrm>
          <a:prstGeom prst="rect">
            <a:avLst/>
          </a:prstGeom>
          <a:solidFill>
            <a:srgbClr val="1A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1280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+30 dias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3657600"/>
            <a:ext cx="9784080" cy="64008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365760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Reunião de follow-up: analisar resultados do piloto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26279"/>
            <a:ext cx="1280160" cy="640080"/>
          </a:xfrm>
          <a:prstGeom prst="rect">
            <a:avLst/>
          </a:prstGeom>
          <a:solidFill>
            <a:srgbClr val="1A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26279"/>
            <a:ext cx="1280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+31 dias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4526279"/>
            <a:ext cx="9784080" cy="64008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0" y="4526279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Decisão: continuar a $99/mês ou terminar sem custo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86400"/>
            <a:ext cx="11247120" cy="1005840"/>
          </a:xfrm>
          <a:prstGeom prst="rect">
            <a:avLst/>
          </a:prstGeom>
          <a:solidFill>
            <a:srgbClr val="05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5321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Nuno Gaspar  |  ngaspar10@gmail.com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0BED0"/>
                </a:solidFill>
                <a:latin typeface="Calibri"/>
              </a:rPr>
              <a:t>TalentIQ — Parceiro Fundador Angola &amp; Moçambique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