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pt-PT" sz="1300" b="0" i="0" u="none" strike="noStrike">
                <a:solidFill>
                  <a:srgbClr val="FFFFFF"/>
                </a:solidFill>
                <a:latin typeface="Arial"/>
              </a:rPr>
              <a:t>Como o Score é Calculado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Peso no Score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EA9-4FC8-A02F-70AC1B4199BE}"/>
              </c:ext>
            </c:extLst>
          </c:dPt>
          <c:dPt>
            <c:idx val="1"/>
            <c:bubble3D val="0"/>
            <c:spPr>
              <a:solidFill>
                <a:srgbClr val="0E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EA9-4FC8-A02F-70AC1B4199BE}"/>
              </c:ext>
            </c:extLst>
          </c:dPt>
          <c:dPt>
            <c:idx val="2"/>
            <c:bubble3D val="0"/>
            <c:spPr>
              <a:solidFill>
                <a:srgbClr val="3B4A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EA9-4FC8-A02F-70AC1B4199BE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PT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EA9-4FC8-A02F-70AC1B4199BE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PT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EA9-4FC8-A02F-70AC1B4199BE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PT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EA9-4FC8-A02F-70AC1B4199BE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PT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Competências (50%)</c:v>
                </c:pt>
                <c:pt idx="1">
                  <c:v>Experiência (30%)</c:v>
                </c:pt>
                <c:pt idx="2">
                  <c:v>Formação (20%)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EA9-4FC8-A02F-70AC1B4199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04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6295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Bem-vindos. Hoje vou mostrar-vos o TalentIQ — uma plataforma que construímos para resolver um problema que todos nós no sector da saúde conhecemos: o processo de recrutamento demora semanas, é manual, e o critério de selecção muitas vezes não é transparente. Dica: faça uma pausa de 3 segundos depois desta frase — deixe o problema "pousar".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processo típico de triagem de 50 CVs para uma vaga de saúde pública demora 2 a 5 dias de trabalho manual. A comparação entre candidatos é subjectiva. E o mesmo processo repete-se do zero para cada vaga. Se a audiência for de RH, pergunte: "Quantos CVs receberam na última vaga que abriram?" — a resposta deles torna o problema concreto.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TalentIQ lê o Termo de Referência, extrai automaticamente todos os requisitos, e quando recebe os CVs dos candidatos, calcula um score objectivo de 0 a 100 para cada um. Em vez de dias, a triagem leva minutos. Três palavras para descrever: rápido, objectivo, auditável.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processo tem 4 passos — todos dentro da plataforma, sem precisar de instalar nada, sem folhas de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score não é uma caixa negra. Pode ver exactamente porque é que um candidato recebeu 72 pontos e não 90. Os thresholds estão em config.py; os pesos (50/30/20) requerem edição do scorer.py — é código Python acessível.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Depois de calculados os scores, o Pipeline permite acompanhar cada candidato ao longo do processo — desde a candidatura até à contratação — com uma visão Kanban clara. Gráfico de funil em tempo real e distribuição dos scores por nível de alinhamento. Na demo, mova um candidato de "Em Triagem" para "Entrevista" — a audiência percebe imediatamente a facilidade de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final, pode exportar tudo: um Excel com o ranking completo, ou um relatório Word com o detalhe de cada candidato — pronto para enviar ao gestor contratante. Atenção: garanta que tem candidatos com score calculado antes da demo da exportação.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Proposta comercial em três fases, alinhada ao roadmap. Pacote Arranque já está disponível hoje; Equipa chega com o multi-utilizador em Q3 2026; Institucional com a versão completa de integrações. O primeiro mês é sempre gratuito para recolher feedback estruturado do parceiro piloto.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39816" y="502920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0E1638"/>
          </a:solidFill>
          <a:ln w="222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839816" y="48755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1078992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1426464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2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DE DECISÃO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0" y="20574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PARCERIA  ·  JULHO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2331720"/>
            <a:ext cx="12191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TalentIQ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0" y="3364992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Recrutamento inteligente para o sector da saúde pública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38339" y="3913632"/>
            <a:ext cx="7315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“De semanas para minutos. De subjectivo para auditável.”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5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Apresentado por Vitalis  ·  Maputo, Moçambique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0E1638"/>
          </a:solidFill>
          <a:ln w="222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48640" y="3747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0976" y="3566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50976" y="55778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2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DE DECISÃO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9265615" y="384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5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TALENTIQ  ·  PITCH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ROTEIRO DA APRESENTAÇÃO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5364328" cy="1042416"/>
          </a:xfrm>
          <a:prstGeom prst="roundRect">
            <a:avLst>
              <a:gd name="adj" fmla="val 7018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749808" y="21671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508760" y="2185416"/>
            <a:ext cx="344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2496312"/>
            <a:ext cx="344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— triagem manual é lenta e inconsistente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52848" y="21671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8728" y="2057400"/>
            <a:ext cx="5364328" cy="1042416"/>
          </a:xfrm>
          <a:prstGeom prst="roundRect">
            <a:avLst>
              <a:gd name="adj" fmla="val 7018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6479896" y="21671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238848" y="2185416"/>
            <a:ext cx="344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38848" y="2496312"/>
            <a:ext cx="344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o TalentIQ e como funciona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682935" y="21671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5364328" cy="1042416"/>
          </a:xfrm>
          <a:prstGeom prst="roundRect">
            <a:avLst>
              <a:gd name="adj" fmla="val 7018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749808" y="35387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508760" y="3557016"/>
            <a:ext cx="344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ao vivo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08760" y="3867912"/>
            <a:ext cx="344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de ToR → Upload de CV → Score Fit → Pipeline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52848" y="3538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78728" y="3429000"/>
            <a:ext cx="5364328" cy="1042416"/>
          </a:xfrm>
          <a:prstGeom prst="roundRect">
            <a:avLst>
              <a:gd name="adj" fmla="val 7018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Text 23"/>
          <p:cNvSpPr/>
          <p:nvPr/>
        </p:nvSpPr>
        <p:spPr>
          <a:xfrm>
            <a:off x="6479896" y="35387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238848" y="3557016"/>
            <a:ext cx="344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Diferenciais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38848" y="3867912"/>
            <a:ext cx="344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com contexto de saúde pública lusófona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682935" y="3538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800600"/>
            <a:ext cx="5364328" cy="1042416"/>
          </a:xfrm>
          <a:prstGeom prst="roundRect">
            <a:avLst>
              <a:gd name="adj" fmla="val 7018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/>
          <p:nvPr/>
        </p:nvSpPr>
        <p:spPr>
          <a:xfrm>
            <a:off x="749808" y="4910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1508760" y="4928616"/>
            <a:ext cx="344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508760" y="5239512"/>
            <a:ext cx="344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Roadmap, escalabilidade, proposta de parceria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52848" y="49103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78728" y="4800600"/>
            <a:ext cx="5364328" cy="1042416"/>
          </a:xfrm>
          <a:prstGeom prst="roundRect">
            <a:avLst>
              <a:gd name="adj" fmla="val 7018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5" name="Text 33"/>
          <p:cNvSpPr/>
          <p:nvPr/>
        </p:nvSpPr>
        <p:spPr>
          <a:xfrm>
            <a:off x="6479896" y="4910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7238848" y="4928616"/>
            <a:ext cx="344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238848" y="5239512"/>
            <a:ext cx="344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e respostas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682935" y="49103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VITALIS  —  INTELIGÊNCIA DE DECISÃO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545775" y="64739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0E1638"/>
          </a:solidFill>
          <a:ln w="222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48640" y="3747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0976" y="3566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50976" y="55778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2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DE DECISÃO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9265615" y="384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5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TALENTIQ  ·  PITCH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triagem manual não escala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processo típico de triagem de 50 CVs para uma vaga de saúde pública demora 2 a 5 dias de trabalho manual. A comparação entre candidatos é subjectiva. E o mesmo processo repete-se do zero para cada vaga.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3515258" cy="2286000"/>
          </a:xfrm>
          <a:prstGeom prst="roundRect">
            <a:avLst>
              <a:gd name="adj" fmla="val 4000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38728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416052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CVs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22960" y="470916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de candidaturas por vaga em ONGs de saúde em Moçambique (dados internos)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38218" y="3246120"/>
            <a:ext cx="3515258" cy="2286000"/>
          </a:xfrm>
          <a:prstGeom prst="roundRect">
            <a:avLst>
              <a:gd name="adj" fmla="val 4000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538" y="3538728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12538" y="416052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2–5 dias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4612538" y="470916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triagem manual por vaga, feita à mão em folhas de Excel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27797" y="3246120"/>
            <a:ext cx="3515258" cy="2286000"/>
          </a:xfrm>
          <a:prstGeom prst="roundRect">
            <a:avLst>
              <a:gd name="adj" fmla="val 4000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2117" y="3538728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02117" y="416052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Inconsistente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8402117" y="470916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de selecção variam de avaliador para avaliador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4864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VITALIS  —  INTELIGÊNCIA DE DECISÃO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10545775" y="64739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0E1638"/>
          </a:solidFill>
          <a:ln w="222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48640" y="3747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0976" y="3566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50976" y="55778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2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DE DECISÃO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9265615" y="384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5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TALENTIQ  ·  PITCH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o TalentIQ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TalentIQ lê o Termo de Referência, extrai automaticamente todos os requisitos, e quando recebe os CVs dos candidatos, calcula um score objectivo de 0 a 100 para cada um. Em vez de dias, a triagem leva minutos.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3515258" cy="13716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56432"/>
            <a:ext cx="585216" cy="58521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0200" y="3063240"/>
            <a:ext cx="2326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338218" y="3063240"/>
            <a:ext cx="3515258" cy="13716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258" y="3456432"/>
            <a:ext cx="585216" cy="5852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89778" y="3063240"/>
            <a:ext cx="2326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Objectivo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8127797" y="3063240"/>
            <a:ext cx="3515258" cy="13716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7837" y="3456432"/>
            <a:ext cx="585216" cy="5852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79357" y="3063240"/>
            <a:ext cx="2326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Auditável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VITALIS  —  INTELIGÊNCIA DE DECISÃO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0545775" y="64739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15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548640" y="4800600"/>
            <a:ext cx="5410048" cy="914400"/>
          </a:xfrm>
          <a:prstGeom prst="roundRect">
            <a:avLst>
              <a:gd name="adj" fmla="val 8000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17"/>
          <p:cNvSpPr/>
          <p:nvPr/>
        </p:nvSpPr>
        <p:spPr>
          <a:xfrm>
            <a:off x="777240" y="4937760"/>
            <a:ext cx="495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kern="0" spc="100" dirty="0">
                <a:solidFill>
                  <a:srgbClr val="22D3EE"/>
                </a:solidFill>
              </a:rPr>
              <a:t>TECNOLOGIA
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IA (Grok-3 da xAI) + motor determinístico de fallback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233008" y="4800600"/>
            <a:ext cx="5410048" cy="914400"/>
          </a:xfrm>
          <a:prstGeom prst="roundRect">
            <a:avLst>
              <a:gd name="adj" fmla="val 8000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19"/>
          <p:cNvSpPr/>
          <p:nvPr/>
        </p:nvSpPr>
        <p:spPr>
          <a:xfrm>
            <a:off x="6461608" y="4937760"/>
            <a:ext cx="495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kern="0" spc="100" dirty="0">
                <a:solidFill>
                  <a:srgbClr val="22D3EE"/>
                </a:solidFill>
              </a:rPr>
              <a:t>CONTEXTO
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Construído para mercados lusófonos — PT · BR · AO · MZ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0E1638"/>
          </a:solidFill>
          <a:ln w="222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48640" y="3747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0976" y="3566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50976" y="55778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2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DE DECISÃO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9265615" y="384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5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TALENTIQ  ·  PITCH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passos, sem instalar nada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2567864" cy="2834640"/>
          </a:xfrm>
          <a:prstGeom prst="roundRect">
            <a:avLst>
              <a:gd name="adj" fmla="val 3561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1421092" y="2606040"/>
            <a:ext cx="822960" cy="82296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116" y="2825496"/>
            <a:ext cx="438912" cy="4389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" y="361188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Carregar o ToR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4160520"/>
            <a:ext cx="2202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extrai o perfil da vaga em segundos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134792" y="342900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3390824" y="2286000"/>
            <a:ext cx="2567864" cy="2834640"/>
          </a:xfrm>
          <a:prstGeom prst="roundRect">
            <a:avLst>
              <a:gd name="adj" fmla="val 3561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3"/>
          <p:cNvSpPr/>
          <p:nvPr/>
        </p:nvSpPr>
        <p:spPr>
          <a:xfrm>
            <a:off x="4263276" y="2606040"/>
            <a:ext cx="822960" cy="82296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300" y="2825496"/>
            <a:ext cx="438912" cy="4389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73704" y="361188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Carregar os CVs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573704" y="4160520"/>
            <a:ext cx="2202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extrai o perfil completo de cada candidato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976976" y="342900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Shape 17"/>
          <p:cNvSpPr/>
          <p:nvPr/>
        </p:nvSpPr>
        <p:spPr>
          <a:xfrm>
            <a:off x="6233008" y="2286000"/>
            <a:ext cx="2567864" cy="2834640"/>
          </a:xfrm>
          <a:prstGeom prst="roundRect">
            <a:avLst>
              <a:gd name="adj" fmla="val 3561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Shape 18"/>
          <p:cNvSpPr/>
          <p:nvPr/>
        </p:nvSpPr>
        <p:spPr>
          <a:xfrm>
            <a:off x="7105460" y="2606040"/>
            <a:ext cx="822960" cy="82296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7484" y="2825496"/>
            <a:ext cx="438912" cy="4389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15888" y="361188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Ver o ranking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415888" y="4160520"/>
            <a:ext cx="2202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0–100 com explicação detalhada das lacunas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8819159" y="342900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7" name="Shape 22"/>
          <p:cNvSpPr/>
          <p:nvPr/>
        </p:nvSpPr>
        <p:spPr>
          <a:xfrm>
            <a:off x="9075191" y="2286000"/>
            <a:ext cx="2567864" cy="2834640"/>
          </a:xfrm>
          <a:prstGeom prst="roundRect">
            <a:avLst>
              <a:gd name="adj" fmla="val 3561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Shape 23"/>
          <p:cNvSpPr/>
          <p:nvPr/>
        </p:nvSpPr>
        <p:spPr>
          <a:xfrm>
            <a:off x="9947643" y="2606040"/>
            <a:ext cx="822960" cy="82296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9667" y="2825496"/>
            <a:ext cx="438912" cy="43891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58071" y="361188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Exportar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9258071" y="4160520"/>
            <a:ext cx="2202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Word ou Excel pronto a partilhar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4864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VITALIS  —  INTELIGÊNCIA DE DECISÃO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10545775" y="64739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1488" y="1508760"/>
            <a:ext cx="1188720" cy="1188720"/>
          </a:xfrm>
          <a:prstGeom prst="ellipse">
            <a:avLst/>
          </a:prstGeom>
          <a:solidFill>
            <a:srgbClr val="16204E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808" y="17830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8803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5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AO VIVO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0" y="3246120"/>
            <a:ext cx="12191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ver em acção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1592428" y="416052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4"/>
          <p:cNvSpPr/>
          <p:nvPr/>
        </p:nvSpPr>
        <p:spPr>
          <a:xfrm>
            <a:off x="1592428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Carregar ToR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329788" y="41605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695548" y="416052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7"/>
          <p:cNvSpPr/>
          <p:nvPr/>
        </p:nvSpPr>
        <p:spPr>
          <a:xfrm>
            <a:off x="3695548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Carregar CV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32908" y="41605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798668" y="416052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0"/>
          <p:cNvSpPr/>
          <p:nvPr/>
        </p:nvSpPr>
        <p:spPr>
          <a:xfrm>
            <a:off x="5798668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Fit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536028" y="41605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901788" y="416052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3"/>
          <p:cNvSpPr/>
          <p:nvPr/>
        </p:nvSpPr>
        <p:spPr>
          <a:xfrm>
            <a:off x="7901788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0" y="502920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 12 minutos  ·  dados </a:t>
            </a:r>
            <a:r>
              <a:rPr lang="en-US" sz="1150" i="1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criados</a:t>
            </a:r>
            <a:r>
              <a:rPr lang="en-US" sz="11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</a:t>
            </a:r>
            <a:r>
              <a:rPr lang="en-US" sz="1150" i="1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demonstracao</a:t>
            </a:r>
            <a:r>
              <a:rPr lang="en-US" sz="11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VITALIS  —  INTELIGÊNCIA DE DECISÃO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545775" y="64739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0E1638"/>
          </a:solidFill>
          <a:ln w="222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48640" y="3747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0976" y="3566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50976" y="55778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2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DE DECISÃO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9265615" y="384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5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TALENTIQ  ·  PITCH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FIT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 total no scoring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score não é uma caixa negra. Pode ver exactamente porque é que um candidato recebeu 72 pontos e não 90 — o relatório lista quais competências foram encontradas e quais estão em falta.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D3EE"/>
                </a:solidFill>
              </a:rPr>
              <a:t>❝ Transparência total
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Cada candidato recebe um relatório com o detalhe completo do cálculo do score e das lacunas identificadas.</a:t>
            </a:r>
            <a:endParaRPr lang="en-US" sz="14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400800" y="2148840"/>
          <a:ext cx="52120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/>
          <p:nvPr/>
        </p:nvSpPr>
        <p:spPr>
          <a:xfrm>
            <a:off x="54864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VITALIS  —  INTELIGÊNCIA DE DECISÃO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545775" y="64739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0E1638"/>
          </a:solidFill>
          <a:ln w="222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48640" y="3747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0976" y="3566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50976" y="55778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2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DE DECISÃO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9265615" y="384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5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TALENTIQ  ·  PITCH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CANDIDATOS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Kanban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de calculados os scores, o Pipeline permite acompanhar cada candidato ao longo do processo — desde a candidatura até à contratação.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926275" cy="2651760"/>
          </a:xfrm>
          <a:prstGeom prst="roundRect">
            <a:avLst>
              <a:gd name="adj" fmla="val 3798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658368" y="3044952"/>
            <a:ext cx="17068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CANDIDATURA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6656" y="3566160"/>
            <a:ext cx="1670243" cy="292608"/>
          </a:xfrm>
          <a:prstGeom prst="roundRect">
            <a:avLst>
              <a:gd name="adj" fmla="val 15625"/>
            </a:avLst>
          </a:prstGeom>
          <a:solidFill>
            <a:srgbClr val="1C2A5E"/>
          </a:solidFill>
          <a:ln w="9525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676656" y="3950208"/>
            <a:ext cx="1670243" cy="292608"/>
          </a:xfrm>
          <a:prstGeom prst="roundRect">
            <a:avLst>
              <a:gd name="adj" fmla="val 15625"/>
            </a:avLst>
          </a:prstGeom>
          <a:solidFill>
            <a:srgbClr val="1C2A5E"/>
          </a:solidFill>
          <a:ln w="9525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Shape 12"/>
          <p:cNvSpPr/>
          <p:nvPr/>
        </p:nvSpPr>
        <p:spPr>
          <a:xfrm>
            <a:off x="676656" y="4334256"/>
            <a:ext cx="1670243" cy="292608"/>
          </a:xfrm>
          <a:prstGeom prst="roundRect">
            <a:avLst>
              <a:gd name="adj" fmla="val 15625"/>
            </a:avLst>
          </a:prstGeom>
          <a:solidFill>
            <a:srgbClr val="1C2A5E"/>
          </a:solidFill>
          <a:ln w="9525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2840675" y="2880360"/>
            <a:ext cx="1926275" cy="2651760"/>
          </a:xfrm>
          <a:prstGeom prst="roundRect">
            <a:avLst>
              <a:gd name="adj" fmla="val 3798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2950403" y="3044952"/>
            <a:ext cx="17068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68691" y="3566160"/>
            <a:ext cx="1670243" cy="292608"/>
          </a:xfrm>
          <a:prstGeom prst="roundRect">
            <a:avLst>
              <a:gd name="adj" fmla="val 15625"/>
            </a:avLst>
          </a:prstGeom>
          <a:solidFill>
            <a:srgbClr val="1C2A5E"/>
          </a:solidFill>
          <a:ln w="9525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Shape 16"/>
          <p:cNvSpPr/>
          <p:nvPr/>
        </p:nvSpPr>
        <p:spPr>
          <a:xfrm>
            <a:off x="2968691" y="3950208"/>
            <a:ext cx="1670243" cy="292608"/>
          </a:xfrm>
          <a:prstGeom prst="roundRect">
            <a:avLst>
              <a:gd name="adj" fmla="val 15625"/>
            </a:avLst>
          </a:prstGeom>
          <a:solidFill>
            <a:srgbClr val="1C2A5E"/>
          </a:solidFill>
          <a:ln w="9525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Shape 17"/>
          <p:cNvSpPr/>
          <p:nvPr/>
        </p:nvSpPr>
        <p:spPr>
          <a:xfrm>
            <a:off x="2968691" y="4334256"/>
            <a:ext cx="1670243" cy="292608"/>
          </a:xfrm>
          <a:prstGeom prst="roundRect">
            <a:avLst>
              <a:gd name="adj" fmla="val 15625"/>
            </a:avLst>
          </a:prstGeom>
          <a:solidFill>
            <a:srgbClr val="1C2A5E"/>
          </a:solidFill>
          <a:ln w="9525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>
            <a:off x="2968691" y="4718304"/>
            <a:ext cx="1670243" cy="292608"/>
          </a:xfrm>
          <a:prstGeom prst="roundRect">
            <a:avLst>
              <a:gd name="adj" fmla="val 15625"/>
            </a:avLst>
          </a:prstGeom>
          <a:solidFill>
            <a:srgbClr val="1C2A5E"/>
          </a:solidFill>
          <a:ln w="9525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Shape 19"/>
          <p:cNvSpPr/>
          <p:nvPr/>
        </p:nvSpPr>
        <p:spPr>
          <a:xfrm>
            <a:off x="5132710" y="2880360"/>
            <a:ext cx="1926275" cy="2651760"/>
          </a:xfrm>
          <a:prstGeom prst="roundRect">
            <a:avLst>
              <a:gd name="adj" fmla="val 3798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5242438" y="3044952"/>
            <a:ext cx="17068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260726" y="3566160"/>
            <a:ext cx="1670243" cy="292608"/>
          </a:xfrm>
          <a:prstGeom prst="roundRect">
            <a:avLst>
              <a:gd name="adj" fmla="val 15625"/>
            </a:avLst>
          </a:prstGeom>
          <a:solidFill>
            <a:srgbClr val="1C2A5E"/>
          </a:solidFill>
          <a:ln w="9525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Shape 22"/>
          <p:cNvSpPr/>
          <p:nvPr/>
        </p:nvSpPr>
        <p:spPr>
          <a:xfrm>
            <a:off x="5260726" y="3950208"/>
            <a:ext cx="1670243" cy="292608"/>
          </a:xfrm>
          <a:prstGeom prst="roundRect">
            <a:avLst>
              <a:gd name="adj" fmla="val 15625"/>
            </a:avLst>
          </a:prstGeom>
          <a:solidFill>
            <a:srgbClr val="1C2A5E"/>
          </a:solidFill>
          <a:ln w="9525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Shape 23"/>
          <p:cNvSpPr/>
          <p:nvPr/>
        </p:nvSpPr>
        <p:spPr>
          <a:xfrm>
            <a:off x="7424745" y="2880360"/>
            <a:ext cx="1926275" cy="2651760"/>
          </a:xfrm>
          <a:prstGeom prst="roundRect">
            <a:avLst>
              <a:gd name="adj" fmla="val 3798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7534473" y="3044952"/>
            <a:ext cx="17068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552761" y="3566160"/>
            <a:ext cx="1670243" cy="292608"/>
          </a:xfrm>
          <a:prstGeom prst="roundRect">
            <a:avLst>
              <a:gd name="adj" fmla="val 15625"/>
            </a:avLst>
          </a:prstGeom>
          <a:solidFill>
            <a:srgbClr val="1C2A5E"/>
          </a:solidFill>
          <a:ln w="9525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Shape 26"/>
          <p:cNvSpPr/>
          <p:nvPr/>
        </p:nvSpPr>
        <p:spPr>
          <a:xfrm>
            <a:off x="7552761" y="3950208"/>
            <a:ext cx="1670243" cy="292608"/>
          </a:xfrm>
          <a:prstGeom prst="roundRect">
            <a:avLst>
              <a:gd name="adj" fmla="val 15625"/>
            </a:avLst>
          </a:prstGeom>
          <a:solidFill>
            <a:srgbClr val="1C2A5E"/>
          </a:solidFill>
          <a:ln w="9525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Shape 27"/>
          <p:cNvSpPr/>
          <p:nvPr/>
        </p:nvSpPr>
        <p:spPr>
          <a:xfrm>
            <a:off x="9716780" y="2880360"/>
            <a:ext cx="1926275" cy="2651760"/>
          </a:xfrm>
          <a:prstGeom prst="roundRect">
            <a:avLst>
              <a:gd name="adj" fmla="val 3798"/>
            </a:avLst>
          </a:prstGeom>
          <a:solidFill>
            <a:srgbClr val="0E7490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/>
          <p:nvPr/>
        </p:nvSpPr>
        <p:spPr>
          <a:xfrm>
            <a:off x="9826508" y="3044952"/>
            <a:ext cx="17068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CONTRATADO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844796" y="3566160"/>
            <a:ext cx="1670243" cy="292608"/>
          </a:xfrm>
          <a:prstGeom prst="roundRect">
            <a:avLst>
              <a:gd name="adj" fmla="val 15625"/>
            </a:avLst>
          </a:prstGeom>
          <a:solidFill>
            <a:srgbClr val="0B5A6E"/>
          </a:solidFill>
          <a:ln w="9525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VITALIS  —  INTELIGÊNCIA DE DECISÃO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545775" y="64739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0E1638"/>
          </a:solidFill>
          <a:ln w="222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48640" y="3747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0976" y="3566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50976" y="55778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2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DE DECISÃO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9265615" y="384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5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TALENTIQ  ·  PITCH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Exportação e relatórios prontos a partilhar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final, pode exportar tudo: um Excel com o ranking completo, ou um relatório Word com o detalhe de cada candidato — pronto para enviar ao gestor contratante.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5364328" cy="2468880"/>
          </a:xfrm>
          <a:prstGeom prst="roundRect">
            <a:avLst>
              <a:gd name="adj" fmla="val 3704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868680" y="3291840"/>
            <a:ext cx="777240" cy="7772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474720"/>
            <a:ext cx="411480" cy="4114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828800" y="3355848"/>
            <a:ext cx="380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(.xlsx)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68680" y="4297680"/>
            <a:ext cx="4724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com nome, vaga, score, etapa e experiência de todos os candidatos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78728" y="2971800"/>
            <a:ext cx="5364328" cy="2468880"/>
          </a:xfrm>
          <a:prstGeom prst="roundRect">
            <a:avLst>
              <a:gd name="adj" fmla="val 3704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3"/>
          <p:cNvSpPr/>
          <p:nvPr/>
        </p:nvSpPr>
        <p:spPr>
          <a:xfrm>
            <a:off x="6598768" y="3291840"/>
            <a:ext cx="777240" cy="7772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648" y="347472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558888" y="3355848"/>
            <a:ext cx="380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(.docx)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6598768" y="4297680"/>
            <a:ext cx="4724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por candidato com score detalhado e lacunas identificadas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4864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VITALIS  —  INTELIGÊNCIA DE DECISÃO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0545775" y="64739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0E1638"/>
          </a:solidFill>
          <a:ln w="222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48640" y="3747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0976" y="3566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50976" y="55778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2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DE DECISÃO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9265615" y="384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5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TALENTIQ  ·  PITCH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PORQUÊ O TALENTIQ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e contexto: as duas razões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208483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Porque não usar simplesmente uma ATS internacional? Duas razões: custo e contexto.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11094416" cy="35661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1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1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</a:rPr>
                        <a:t>TalentIQ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4A3B8"/>
                          </a:solidFill>
                        </a:rPr>
                        <a:t>ATS Internacional Típica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Custo mensal (50 CVs)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</a:rPr>
                        <a:t>≈ USD 5 (custo de API por CV processado)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</a:rPr>
                        <a:t>USD 100 – 500+ / mês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Contexto lusófono e saúde pública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</a:rPr>
                        <a:t>Nativo — construído para PT · BR · AO · MZ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</a:rPr>
                        <a:t>Tradução genérica de outro mercado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Armazenamento de dados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</a:rPr>
                        <a:t>Local, no computador do utilizador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</a:rPr>
                        <a:t>Cloud internacional de terceiros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Funciona offline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</a:rPr>
                        <a:t>Sim — motor determinístico de fallback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</a:rPr>
                        <a:t>Normalmente não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Explicação do score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</a:rPr>
                        <a:t>Transparente e auditável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</a:rPr>
                        <a:t>Frequentemente caixa-negra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8"/>
          <p:cNvSpPr/>
          <p:nvPr/>
        </p:nvSpPr>
        <p:spPr>
          <a:xfrm>
            <a:off x="54864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VITALIS  —  INTELIGÊNCIA DE DECISÃO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545775" y="64739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808" y="8686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03" y="169164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“De semanas para minutos.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subjectivo para auditável.”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828754" y="3429000"/>
            <a:ext cx="853418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 TalentIQ não substitui o julgamento humano — organiza-o.”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VITALIS  —  INTELIGÊNCIA DE DECISÃO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545775" y="64739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0E1638"/>
          </a:solidFill>
          <a:ln w="222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48640" y="3747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0976" y="3566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50976" y="55778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2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DE DECISÃO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9265615" y="384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5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TALENTIQ  ·  PITCH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pacote para cada fase de crescimento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3515258" cy="3703320"/>
          </a:xfrm>
          <a:prstGeom prst="roundRect">
            <a:avLst>
              <a:gd name="adj" fmla="val 2601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 dirty="0"/>
          </a:p>
        </p:txBody>
      </p:sp>
      <p:sp>
        <p:nvSpPr>
          <p:cNvPr id="10" name="Text 8"/>
          <p:cNvSpPr/>
          <p:nvPr/>
        </p:nvSpPr>
        <p:spPr>
          <a:xfrm>
            <a:off x="777240" y="2359152"/>
            <a:ext cx="30580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DISPONÍVEL AGORA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77240" y="26334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77240" y="301752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D3EE"/>
                </a:solidFill>
              </a:rPr>
              <a:t>USD 150</a:t>
            </a:r>
            <a:r>
              <a:rPr lang="en-US" sz="1100" dirty="0">
                <a:solidFill>
                  <a:srgbClr val="94A3B8"/>
                </a:solidFill>
              </a:rPr>
              <a:t>  /mês  ·  1º mês grátis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77240" y="3703320"/>
            <a:ext cx="305805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100" dirty="0">
                <a:solidFill>
                  <a:srgbClr val="94A3B8"/>
                </a:solidFill>
              </a:rPr>
              <a:t>1 utilizador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100" dirty="0">
                <a:solidFill>
                  <a:srgbClr val="94A3B8"/>
                </a:solidFill>
              </a:rPr>
              <a:t>Vagas e CVs sem limite prático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100" dirty="0">
                <a:solidFill>
                  <a:srgbClr val="94A3B8"/>
                </a:solidFill>
              </a:rPr>
              <a:t>Scoring com IA + exportação Excel/Word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100" dirty="0">
                <a:solidFill>
                  <a:srgbClr val="94A3B8"/>
                </a:solidFill>
              </a:rPr>
              <a:t>Suporte por email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38218" y="2103120"/>
            <a:ext cx="3515258" cy="3703320"/>
          </a:xfrm>
          <a:prstGeom prst="roundRect">
            <a:avLst>
              <a:gd name="adj" fmla="val 2601"/>
            </a:avLst>
          </a:prstGeom>
          <a:solidFill>
            <a:srgbClr val="1C2A5E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4566818" y="2359152"/>
            <a:ext cx="30580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 Q3 2026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66818" y="26334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566818" y="301752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D3EE"/>
                </a:solidFill>
              </a:rPr>
              <a:t>USD 350</a:t>
            </a:r>
            <a:r>
              <a:rPr lang="en-US" sz="1100" dirty="0">
                <a:solidFill>
                  <a:srgbClr val="94A3B8"/>
                </a:solidFill>
              </a:rPr>
              <a:t>  /mês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566818" y="3703320"/>
            <a:ext cx="305805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100" dirty="0">
                <a:solidFill>
                  <a:srgbClr val="94A3B8"/>
                </a:solidFill>
              </a:rPr>
              <a:t>Até 5 utilizadores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100" dirty="0">
                <a:solidFill>
                  <a:srgbClr val="94A3B8"/>
                </a:solidFill>
              </a:rPr>
              <a:t>Pipeline Kanban colaborativo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100" dirty="0">
                <a:solidFill>
                  <a:srgbClr val="94A3B8"/>
                </a:solidFill>
              </a:rPr>
              <a:t>Relatórios consolidados por vaga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100" dirty="0">
                <a:solidFill>
                  <a:srgbClr val="94A3B8"/>
                </a:solidFill>
              </a:rPr>
              <a:t>Suporte prioritário (24h)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27797" y="2103120"/>
            <a:ext cx="3515258" cy="3703320"/>
          </a:xfrm>
          <a:prstGeom prst="roundRect">
            <a:avLst>
              <a:gd name="adj" fmla="val 2601"/>
            </a:avLst>
          </a:prstGeom>
          <a:solidFill>
            <a:srgbClr val="16204E"/>
          </a:solidFill>
          <a:ln w="12700">
            <a:solidFill>
              <a:srgbClr val="2A376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8356397" y="2359152"/>
            <a:ext cx="30580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 2027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356397" y="26334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Institucional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356397" y="301752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D3EE"/>
                </a:solidFill>
              </a:rPr>
              <a:t>USD 500</a:t>
            </a:r>
            <a:r>
              <a:rPr lang="en-US" sz="1100" dirty="0">
                <a:solidFill>
                  <a:srgbClr val="94A3B8"/>
                </a:solidFill>
              </a:rPr>
              <a:t>  /mês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8356397" y="3703320"/>
            <a:ext cx="305805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100" dirty="0">
                <a:solidFill>
                  <a:srgbClr val="94A3B8"/>
                </a:solidFill>
              </a:rPr>
              <a:t>Utilizadores ilimitados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100" dirty="0">
                <a:solidFill>
                  <a:srgbClr val="94A3B8"/>
                </a:solidFill>
              </a:rPr>
              <a:t>Entrevistas estruturadas + scorecards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100" dirty="0">
                <a:solidFill>
                  <a:srgbClr val="94A3B8"/>
                </a:solidFill>
              </a:rPr>
              <a:t>Integrações API (LinkedIn / HRIS)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100" dirty="0">
                <a:solidFill>
                  <a:srgbClr val="94A3B8"/>
                </a:solidFill>
              </a:rPr>
              <a:t>Alojamento dedicado + formação da equipa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1º mês é sempre gratuito para novos parceiros, com recolha estruturada de feedback. O Pacote Institucional iguala o topo da gama praticada por uma única licença de ATS internacional — mas aqui sem limite de utilizadores.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VITALIS  —  INTELIGÊNCIA DE DECISÃO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545775" y="64739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3240" y="1234440"/>
            <a:ext cx="585216" cy="585216"/>
          </a:xfrm>
          <a:prstGeom prst="roundRect">
            <a:avLst>
              <a:gd name="adj" fmla="val 18000"/>
            </a:avLst>
          </a:prstGeom>
          <a:solidFill>
            <a:srgbClr val="0E1638"/>
          </a:solidFill>
          <a:ln w="222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803240" y="12168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0" y="1901952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2231136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DE DECISÃO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27889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Obrigado.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VITALIS  —  INTELIGÊNCIA DE DECISÃO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545775" y="64739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1426</Words>
  <Application>Microsoft Office PowerPoint</Application>
  <PresentationFormat>Widescreen</PresentationFormat>
  <Paragraphs>233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TalentIQ — Apresentação de Produto</dc:title>
  <dc:subject>PptxGenJS Presentation</dc:subject>
  <dc:creator>Vitalis</dc:creator>
  <cp:lastModifiedBy>Nuno Ivan Mendonça Gaspar</cp:lastModifiedBy>
  <cp:revision>2</cp:revision>
  <dcterms:created xsi:type="dcterms:W3CDTF">2026-07-07T10:38:52Z</dcterms:created>
  <dcterms:modified xsi:type="dcterms:W3CDTF">2026-07-07T12:03:33Z</dcterms:modified>
</cp:coreProperties>
</file>